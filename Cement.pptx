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76" r:id="rId9"/>
    <p:sldId id="277" r:id="rId10"/>
    <p:sldId id="278" r:id="rId11"/>
    <p:sldId id="265" r:id="rId12"/>
    <p:sldId id="266"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73" d="100"/>
          <a:sy n="73" d="100"/>
        </p:scale>
        <p:origin x="58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t>2/25/2026</a:t>
            </a:fld>
            <a:endParaRPr lang="en-US"/>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66645" y="71120"/>
            <a:ext cx="6894195" cy="1303020"/>
          </a:xfrm>
        </p:spPr>
        <p:txBody>
          <a:bodyPr/>
          <a:lstStyle/>
          <a:p>
            <a:pPr algn="ctr"/>
            <a:r>
              <a:rPr lang="en-US" sz="5400"/>
              <a:t>Table of Contents</a:t>
            </a:r>
          </a:p>
        </p:txBody>
      </p:sp>
      <p:sp>
        <p:nvSpPr>
          <p:cNvPr id="3" name="Subtitle 2"/>
          <p:cNvSpPr>
            <a:spLocks noGrp="1"/>
          </p:cNvSpPr>
          <p:nvPr>
            <p:ph type="subTitle" idx="1"/>
          </p:nvPr>
        </p:nvSpPr>
        <p:spPr>
          <a:xfrm>
            <a:off x="1649095" y="2321243"/>
            <a:ext cx="9144000" cy="1655762"/>
          </a:xfrm>
        </p:spPr>
        <p:txBody>
          <a:bodyPr/>
          <a:lstStyle/>
          <a:p>
            <a:pPr marL="285750" indent="-285750" algn="l">
              <a:buFont typeface="Wingdings" panose="05000000000000000000" charset="0"/>
              <a:buChar char="Ø"/>
            </a:pPr>
            <a:r>
              <a:rPr lang="en-US" sz="3200" dirty="0"/>
              <a:t>Introduction</a:t>
            </a:r>
          </a:p>
          <a:p>
            <a:pPr marL="285750" indent="-285750" algn="l">
              <a:buFont typeface="Wingdings" panose="05000000000000000000" charset="0"/>
              <a:buChar char="Ø"/>
            </a:pPr>
            <a:r>
              <a:rPr lang="en-US" sz="3200" dirty="0"/>
              <a:t>Raw Materials for cement production</a:t>
            </a:r>
          </a:p>
          <a:p>
            <a:pPr marL="285750" indent="-285750" algn="l">
              <a:buFont typeface="Wingdings" panose="05000000000000000000" charset="0"/>
              <a:buChar char="Ø"/>
            </a:pPr>
            <a:r>
              <a:rPr lang="en-US" sz="3200" dirty="0"/>
              <a:t>Main steps in cement production</a:t>
            </a:r>
          </a:p>
          <a:p>
            <a:pPr marL="285750" indent="-285750" algn="l">
              <a:buFont typeface="Wingdings" panose="05000000000000000000" charset="0"/>
              <a:buChar char="Ø"/>
            </a:pPr>
            <a:r>
              <a:rPr lang="en-US" sz="3200" dirty="0"/>
              <a:t>Portland Cement Process</a:t>
            </a:r>
          </a:p>
          <a:p>
            <a:pPr marL="285750" indent="-285750" algn="l">
              <a:buFont typeface="Wingdings" panose="05000000000000000000" charset="0"/>
              <a:buChar char="Ø"/>
            </a:pPr>
            <a:r>
              <a:rPr lang="en-US" sz="3200" dirty="0"/>
              <a:t>Cement Industry in Nepal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27000" y="0"/>
            <a:ext cx="11890829" cy="584775"/>
          </a:xfrm>
          <a:prstGeom prst="rect">
            <a:avLst/>
          </a:prstGeom>
          <a:noFill/>
        </p:spPr>
        <p:txBody>
          <a:bodyPr wrap="square" rtlCol="0">
            <a:spAutoFit/>
          </a:bodyPr>
          <a:lstStyle/>
          <a:p>
            <a:pPr algn="ctr"/>
            <a:r>
              <a:rPr lang="en-US" sz="3200" b="1" dirty="0">
                <a:solidFill>
                  <a:schemeClr val="accent5">
                    <a:lumMod val="75000"/>
                  </a:schemeClr>
                </a:solidFill>
              </a:rPr>
              <a:t>Introduction</a:t>
            </a:r>
            <a:endParaRPr lang="en-US" sz="2000" b="1" dirty="0">
              <a:solidFill>
                <a:schemeClr val="accent5">
                  <a:lumMod val="75000"/>
                </a:schemeClr>
              </a:solidFill>
            </a:endParaRPr>
          </a:p>
        </p:txBody>
      </p:sp>
      <p:sp>
        <p:nvSpPr>
          <p:cNvPr id="5" name="Text Box 4"/>
          <p:cNvSpPr txBox="1"/>
          <p:nvPr/>
        </p:nvSpPr>
        <p:spPr>
          <a:xfrm>
            <a:off x="1198880" y="1040130"/>
            <a:ext cx="9633585" cy="3970318"/>
          </a:xfrm>
          <a:prstGeom prst="rect">
            <a:avLst/>
          </a:prstGeom>
          <a:noFill/>
        </p:spPr>
        <p:txBody>
          <a:bodyPr wrap="square" rtlCol="0">
            <a:spAutoFit/>
          </a:bodyPr>
          <a:lstStyle/>
          <a:p>
            <a:r>
              <a:rPr lang="en-US" sz="2800" b="1" i="0" dirty="0">
                <a:effectLst/>
                <a:latin typeface="+mj-lt"/>
              </a:rPr>
              <a:t>Cement is an extremely fine material having adhesive and cohesive properties which provides a binding medium for the discrete ingredients. It is a binder, a substance used for construction that sets, hardens, and adheres to other materials to bind them together. They are not very water-soluble and so are quite durable in water and safe from chemical attacks. Cement mixed with fine aggregate produces mortar for masonry, or with sand and gravel, produces concrete.</a:t>
            </a:r>
            <a:endParaRPr lang="en-US" sz="2800" b="1"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62560" y="123825"/>
            <a:ext cx="11789954" cy="523220"/>
          </a:xfrm>
          <a:prstGeom prst="rect">
            <a:avLst/>
          </a:prstGeom>
          <a:noFill/>
        </p:spPr>
        <p:txBody>
          <a:bodyPr wrap="square" rtlCol="0">
            <a:spAutoFit/>
          </a:bodyPr>
          <a:lstStyle/>
          <a:p>
            <a:pPr algn="ctr"/>
            <a:r>
              <a:rPr lang="en-US" sz="2800" b="1" dirty="0">
                <a:solidFill>
                  <a:schemeClr val="accent5">
                    <a:lumMod val="75000"/>
                  </a:schemeClr>
                </a:solidFill>
              </a:rPr>
              <a:t>Terms and their Definitions :</a:t>
            </a:r>
          </a:p>
        </p:txBody>
      </p:sp>
      <p:sp>
        <p:nvSpPr>
          <p:cNvPr id="5" name="Text Box 4"/>
          <p:cNvSpPr txBox="1"/>
          <p:nvPr/>
        </p:nvSpPr>
        <p:spPr>
          <a:xfrm>
            <a:off x="698590" y="957535"/>
            <a:ext cx="4382861" cy="230832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Mortar : It is the combination of cement , fine sand , water and lime used for binding bricks or stones together during construction.</a:t>
            </a:r>
            <a:br>
              <a:rPr lang="en-US" dirty="0">
                <a:latin typeface="+mj-lt"/>
              </a:rPr>
            </a:br>
            <a:endParaRPr lang="en-US" dirty="0">
              <a:latin typeface="+mj-lt"/>
            </a:endParaRPr>
          </a:p>
          <a:p>
            <a:pPr marL="285750" indent="-285750">
              <a:buFont typeface="Arial" panose="020B0604020202020204" pitchFamily="34" charset="0"/>
              <a:buChar char="•"/>
            </a:pPr>
            <a:endParaRPr lang="en-US" dirty="0">
              <a:latin typeface="+mj-lt"/>
            </a:endParaRPr>
          </a:p>
          <a:p>
            <a:br>
              <a:rPr lang="en-US" dirty="0">
                <a:latin typeface="+mj-lt"/>
              </a:rPr>
            </a:br>
            <a:r>
              <a:rPr lang="en-US" dirty="0">
                <a:latin typeface="+mj-lt"/>
              </a:rPr>
              <a:t> </a:t>
            </a:r>
          </a:p>
        </p:txBody>
      </p:sp>
      <p:pic>
        <p:nvPicPr>
          <p:cNvPr id="3074" name="Picture 2" descr="What Is The Difference Between Concrete, Cement &amp; Mortar? | EasyMix Concrete">
            <a:extLst>
              <a:ext uri="{FF2B5EF4-FFF2-40B4-BE49-F238E27FC236}">
                <a16:creationId xmlns:a16="http://schemas.microsoft.com/office/drawing/2014/main" id="{5C8D3452-7E1A-4BD4-B0D9-838EF548AF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61506" y="2371178"/>
            <a:ext cx="2639785" cy="15708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4EF72FF-BDBB-45CB-A3DE-8DC830222798}"/>
              </a:ext>
            </a:extLst>
          </p:cNvPr>
          <p:cNvSpPr txBox="1"/>
          <p:nvPr/>
        </p:nvSpPr>
        <p:spPr>
          <a:xfrm>
            <a:off x="465296" y="4742345"/>
            <a:ext cx="3187337" cy="1754326"/>
          </a:xfrm>
          <a:prstGeom prst="rect">
            <a:avLst/>
          </a:prstGeom>
          <a:noFill/>
        </p:spPr>
        <p:txBody>
          <a:bodyPr wrap="square">
            <a:spAutoFit/>
          </a:bodyPr>
          <a:lstStyle/>
          <a:p>
            <a:r>
              <a:rPr lang="en-US" dirty="0">
                <a:latin typeface="+mj-lt"/>
              </a:rPr>
              <a:t>Reinforced Concrete (RCC) : It is concrete in which steel reinforcements is added so that both materials act together to withstand high stresses.</a:t>
            </a:r>
            <a:endParaRPr lang="en-US" dirty="0"/>
          </a:p>
        </p:txBody>
      </p:sp>
      <p:pic>
        <p:nvPicPr>
          <p:cNvPr id="3076" name="Picture 4" descr="Reinforced Concrete | What is ...">
            <a:extLst>
              <a:ext uri="{FF2B5EF4-FFF2-40B4-BE49-F238E27FC236}">
                <a16:creationId xmlns:a16="http://schemas.microsoft.com/office/drawing/2014/main" id="{C2ABFB3E-0035-4A91-9FDA-E354ADEC53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8739" y="4742345"/>
            <a:ext cx="2841170" cy="142058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8B7262F-A0DD-46A6-BA96-203F1B13D858}"/>
              </a:ext>
            </a:extLst>
          </p:cNvPr>
          <p:cNvSpPr txBox="1"/>
          <p:nvPr/>
        </p:nvSpPr>
        <p:spPr>
          <a:xfrm>
            <a:off x="6691311" y="934148"/>
            <a:ext cx="4189910" cy="5078313"/>
          </a:xfrm>
          <a:prstGeom prst="rect">
            <a:avLst/>
          </a:prstGeom>
          <a:noFill/>
        </p:spPr>
        <p:txBody>
          <a:bodyPr wrap="square">
            <a:spAutoFit/>
          </a:bodyPr>
          <a:lstStyle/>
          <a:p>
            <a:pPr marL="283464" indent="-283464" algn="ctr" rtl="0" eaLnBrk="1" latinLnBrk="0" hangingPunct="1">
              <a:spcBef>
                <a:spcPts val="0"/>
              </a:spcBef>
              <a:spcAft>
                <a:spcPts val="0"/>
              </a:spcAft>
              <a:buClrTx/>
              <a:buSzPts val="1800"/>
              <a:buFont typeface="Arial" panose="020B0604020202020204" pitchFamily="34" charset="0"/>
              <a:buChar char="•"/>
            </a:pPr>
            <a:r>
              <a:rPr lang="en-US" sz="1800" kern="1200" dirty="0">
                <a:solidFill>
                  <a:srgbClr val="000000"/>
                </a:solidFill>
                <a:effectLst/>
                <a:latin typeface="Arial" panose="020B0604020202020204" pitchFamily="34" charset="0"/>
                <a:ea typeface="Arial" panose="020B0604020202020204" pitchFamily="34" charset="0"/>
                <a:cs typeface="+mn-cs"/>
              </a:rPr>
              <a:t>Concrete: </a:t>
            </a:r>
            <a:r>
              <a:rPr lang="en-US" sz="1800" i="0" kern="1200" dirty="0">
                <a:solidFill>
                  <a:srgbClr val="000000"/>
                </a:solidFill>
                <a:effectLst/>
                <a:latin typeface="Arial" panose="020B0604020202020204" pitchFamily="34" charset="0"/>
                <a:ea typeface="Arial" panose="020B0604020202020204" pitchFamily="34" charset="0"/>
                <a:cs typeface="+mn-cs"/>
              </a:rPr>
              <a:t>Concrete is the most widely used material in existence and is behind only water as the planet’s most-consumed resource. It is capable of bonding constructional materials like sand, stones, bricks, buildings, blocks and many more. The principal constituents of cement are the compounds of calcium, </a:t>
            </a:r>
            <a:r>
              <a:rPr lang="en-US" sz="1800" i="0" kern="1200" dirty="0" err="1">
                <a:solidFill>
                  <a:srgbClr val="000000"/>
                </a:solidFill>
                <a:effectLst/>
                <a:latin typeface="Arial" panose="020B0604020202020204" pitchFamily="34" charset="0"/>
                <a:ea typeface="Arial" panose="020B0604020202020204" pitchFamily="34" charset="0"/>
                <a:cs typeface="+mn-cs"/>
              </a:rPr>
              <a:t>aluminium</a:t>
            </a:r>
            <a:r>
              <a:rPr lang="en-US" sz="1800" i="0" kern="1200" dirty="0">
                <a:solidFill>
                  <a:srgbClr val="000000"/>
                </a:solidFill>
                <a:effectLst/>
                <a:latin typeface="Arial" panose="020B0604020202020204" pitchFamily="34" charset="0"/>
                <a:ea typeface="Arial" panose="020B0604020202020204" pitchFamily="34" charset="0"/>
                <a:cs typeface="+mn-cs"/>
              </a:rPr>
              <a:t> and silicon. Cement containing calcium is called calcareous whereas containing </a:t>
            </a:r>
            <a:r>
              <a:rPr lang="en-US" sz="1800" i="0" kern="1200" dirty="0" err="1">
                <a:solidFill>
                  <a:srgbClr val="000000"/>
                </a:solidFill>
                <a:effectLst/>
                <a:latin typeface="Arial" panose="020B0604020202020204" pitchFamily="34" charset="0"/>
                <a:ea typeface="Arial" panose="020B0604020202020204" pitchFamily="34" charset="0"/>
                <a:cs typeface="+mn-cs"/>
              </a:rPr>
              <a:t>aluminium</a:t>
            </a:r>
            <a:r>
              <a:rPr lang="en-US" sz="1800" i="0" kern="1200" dirty="0">
                <a:solidFill>
                  <a:srgbClr val="000000"/>
                </a:solidFill>
                <a:effectLst/>
                <a:latin typeface="Arial" panose="020B0604020202020204" pitchFamily="34" charset="0"/>
                <a:ea typeface="Arial" panose="020B0604020202020204" pitchFamily="34" charset="0"/>
                <a:cs typeface="+mn-cs"/>
              </a:rPr>
              <a:t> and silicon is called argillaceous. Cement has a unique property of setting and hardening of calcareous and argillaceous material underwater by virtue of certain chemical reactions.</a:t>
            </a:r>
            <a:endParaRPr lang="en-US" sz="1800" dirty="0">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13690" y="150495"/>
            <a:ext cx="11469007" cy="583565"/>
          </a:xfrm>
          <a:prstGeom prst="rect">
            <a:avLst/>
          </a:prstGeom>
          <a:noFill/>
        </p:spPr>
        <p:txBody>
          <a:bodyPr wrap="square" rtlCol="0">
            <a:spAutoFit/>
          </a:bodyPr>
          <a:lstStyle/>
          <a:p>
            <a:pPr algn="ctr"/>
            <a:r>
              <a:rPr lang="en-US" sz="3200" b="1" dirty="0">
                <a:solidFill>
                  <a:schemeClr val="accent5">
                    <a:lumMod val="75000"/>
                  </a:schemeClr>
                </a:solidFill>
              </a:rPr>
              <a:t>Uses of Cement:</a:t>
            </a:r>
          </a:p>
        </p:txBody>
      </p:sp>
      <p:cxnSp>
        <p:nvCxnSpPr>
          <p:cNvPr id="6" name="Straight Connector 5"/>
          <p:cNvCxnSpPr/>
          <p:nvPr/>
        </p:nvCxnSpPr>
        <p:spPr>
          <a:xfrm>
            <a:off x="7554595" y="1121410"/>
            <a:ext cx="0" cy="4972050"/>
          </a:xfrm>
          <a:prstGeom prst="line">
            <a:avLst/>
          </a:prstGeom>
          <a:ln w="31750">
            <a:gradFill>
              <a:gsLst>
                <a:gs pos="0">
                  <a:schemeClr val="accent1">
                    <a:hueOff val="-4200000"/>
                  </a:schemeClr>
                </a:gs>
                <a:gs pos="100000">
                  <a:schemeClr val="accent1"/>
                </a:gs>
              </a:gsLst>
            </a:gradFill>
          </a:ln>
        </p:spPr>
        <p:style>
          <a:lnRef idx="0">
            <a:srgbClr val="FFFFFF"/>
          </a:lnRef>
          <a:fillRef idx="0">
            <a:srgbClr val="FFFFFF"/>
          </a:fillRef>
          <a:effectRef idx="0">
            <a:srgbClr val="FFFFFF"/>
          </a:effectRef>
          <a:fontRef idx="minor">
            <a:schemeClr val="tx1"/>
          </a:fontRef>
        </p:style>
      </p:cxnSp>
      <p:sp>
        <p:nvSpPr>
          <p:cNvPr id="7" name="Text Box 6"/>
          <p:cNvSpPr txBox="1"/>
          <p:nvPr/>
        </p:nvSpPr>
        <p:spPr>
          <a:xfrm>
            <a:off x="7865745" y="1859915"/>
            <a:ext cx="4011930" cy="3785652"/>
          </a:xfrm>
          <a:prstGeom prst="rect">
            <a:avLst/>
          </a:prstGeom>
          <a:noFill/>
        </p:spPr>
        <p:txBody>
          <a:bodyPr wrap="square" rtlCol="0">
            <a:spAutoFit/>
          </a:bodyPr>
          <a:lstStyle/>
          <a:p>
            <a:pPr marL="285750" indent="-285750">
              <a:buFont typeface="Wingdings" panose="05000000000000000000" charset="0"/>
              <a:buChar char="§"/>
            </a:pPr>
            <a:r>
              <a:rPr lang="en-US" sz="2000" dirty="0"/>
              <a:t>In making concrete for buildings , bridges , dams and roads</a:t>
            </a:r>
            <a:br>
              <a:rPr lang="en-US" sz="2000" dirty="0"/>
            </a:br>
            <a:endParaRPr lang="en-US" sz="2000" dirty="0"/>
          </a:p>
          <a:p>
            <a:pPr marL="285750" indent="-285750">
              <a:buFont typeface="Wingdings" panose="05000000000000000000" charset="0"/>
              <a:buChar char="§"/>
            </a:pPr>
            <a:r>
              <a:rPr lang="en-US" sz="2000" dirty="0"/>
              <a:t>In preparing mortar for joining bricks and stones .</a:t>
            </a:r>
            <a:br>
              <a:rPr lang="en-US" sz="2000" dirty="0"/>
            </a:br>
            <a:endParaRPr lang="en-US" sz="2000" dirty="0"/>
          </a:p>
          <a:p>
            <a:pPr marL="285750" indent="-285750">
              <a:buFont typeface="Wingdings" panose="05000000000000000000" charset="0"/>
              <a:buChar char="§"/>
            </a:pPr>
            <a:r>
              <a:rPr lang="en-US" sz="2000" dirty="0"/>
              <a:t>For plastering and flooring of walls and surfaces.</a:t>
            </a:r>
            <a:br>
              <a:rPr lang="en-US" sz="2000" dirty="0"/>
            </a:br>
            <a:endParaRPr lang="en-US" sz="2000" dirty="0"/>
          </a:p>
          <a:p>
            <a:pPr marL="285750" indent="-285750">
              <a:buFont typeface="Wingdings" panose="05000000000000000000" charset="0"/>
              <a:buChar char="§"/>
            </a:pPr>
            <a:r>
              <a:rPr lang="en-US" sz="2000" dirty="0"/>
              <a:t>In water-proofing works and repair of cracks</a:t>
            </a:r>
          </a:p>
        </p:txBody>
      </p:sp>
      <p:pic>
        <p:nvPicPr>
          <p:cNvPr id="2052" name="Picture 4" descr="Cement Powder Images – Browse 14,982 Stock Photos, Vectors ...">
            <a:extLst>
              <a:ext uri="{FF2B5EF4-FFF2-40B4-BE49-F238E27FC236}">
                <a16:creationId xmlns:a16="http://schemas.microsoft.com/office/drawing/2014/main" id="{8E92C235-B8FA-43BC-94F3-0CE4CCBE7A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690" y="1121409"/>
            <a:ext cx="7250112" cy="54492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6906" y="250825"/>
            <a:ext cx="8386626" cy="584200"/>
          </a:xfrm>
        </p:spPr>
        <p:txBody>
          <a:bodyPr/>
          <a:lstStyle/>
          <a:p>
            <a:r>
              <a:rPr lang="en-US" sz="3200" b="1" dirty="0"/>
              <a:t>Raw materials for cement production</a:t>
            </a:r>
          </a:p>
        </p:txBody>
      </p:sp>
      <p:sp>
        <p:nvSpPr>
          <p:cNvPr id="4" name="Text Box 3"/>
          <p:cNvSpPr txBox="1"/>
          <p:nvPr/>
        </p:nvSpPr>
        <p:spPr>
          <a:xfrm>
            <a:off x="679269" y="3476265"/>
            <a:ext cx="11155679" cy="3170099"/>
          </a:xfrm>
          <a:prstGeom prst="rect">
            <a:avLst/>
          </a:prstGeom>
          <a:noFill/>
        </p:spPr>
        <p:txBody>
          <a:bodyPr wrap="square" rtlCol="0">
            <a:spAutoFit/>
          </a:bodyPr>
          <a:lstStyle/>
          <a:p>
            <a:r>
              <a:rPr lang="en-US" sz="2000" dirty="0"/>
              <a:t>Basic raw materials to manufacture cement are : </a:t>
            </a:r>
          </a:p>
          <a:p>
            <a:endParaRPr lang="en-US" sz="2000" dirty="0"/>
          </a:p>
          <a:p>
            <a:pPr marL="285750" indent="-285750">
              <a:buFont typeface="Arial" panose="020B0604020202020204" pitchFamily="34" charset="0"/>
              <a:buChar char="•"/>
            </a:pPr>
            <a:r>
              <a:rPr lang="en-US" sz="2000" b="1" dirty="0" err="1"/>
              <a:t>Calcerous</a:t>
            </a:r>
            <a:r>
              <a:rPr lang="en-US" sz="2000" b="1" dirty="0"/>
              <a:t> materials </a:t>
            </a:r>
            <a:r>
              <a:rPr lang="en-US" sz="2000" dirty="0"/>
              <a:t>: These materials supply lime . For </a:t>
            </a:r>
            <a:r>
              <a:rPr lang="en-US" sz="2000" dirty="0" err="1"/>
              <a:t>eg</a:t>
            </a:r>
            <a:r>
              <a:rPr lang="en-US" sz="2000" dirty="0"/>
              <a:t> : limestone , chalk , clay/marl , cement rock </a:t>
            </a:r>
            <a:r>
              <a:rPr lang="en-US" sz="2000" dirty="0" err="1"/>
              <a:t>etc</a:t>
            </a:r>
            <a:r>
              <a:rPr lang="en-US" sz="2000" dirty="0"/>
              <a:t> . [Contributes </a:t>
            </a:r>
            <a:r>
              <a:rPr lang="en-US" sz="2000" b="1" dirty="0"/>
              <a:t>85%</a:t>
            </a:r>
            <a:r>
              <a:rPr lang="en-US" sz="2000" dirty="0"/>
              <a:t> if clinkers]</a:t>
            </a:r>
            <a:br>
              <a:rPr lang="en-US" sz="2000" dirty="0"/>
            </a:br>
            <a:endParaRPr lang="en-US" sz="2000" b="1" dirty="0"/>
          </a:p>
          <a:p>
            <a:pPr marL="285750" indent="-285750">
              <a:buFont typeface="Arial" panose="020B0604020202020204" pitchFamily="34" charset="0"/>
              <a:buChar char="•"/>
            </a:pPr>
            <a:r>
              <a:rPr lang="en-US" sz="2000" b="1" dirty="0" err="1"/>
              <a:t>Argillaceaus</a:t>
            </a:r>
            <a:r>
              <a:rPr lang="en-US" sz="2000" b="1" dirty="0"/>
              <a:t> materials</a:t>
            </a:r>
            <a:r>
              <a:rPr lang="en-US" sz="2000" dirty="0"/>
              <a:t> : These supply silica (SiO</a:t>
            </a:r>
            <a:r>
              <a:rPr lang="en-US" sz="2000" baseline="-25000" dirty="0"/>
              <a:t>2</a:t>
            </a:r>
            <a:r>
              <a:rPr lang="en-US" sz="2000" dirty="0"/>
              <a:t>) , aluminates(Al</a:t>
            </a:r>
            <a:r>
              <a:rPr lang="en-US" sz="2000" baseline="-25000" dirty="0"/>
              <a:t>2</a:t>
            </a:r>
            <a:r>
              <a:rPr lang="en-US" sz="2000" dirty="0"/>
              <a:t>O</a:t>
            </a:r>
            <a:r>
              <a:rPr lang="en-US" sz="2000" baseline="-25000" dirty="0"/>
              <a:t>3</a:t>
            </a:r>
            <a:r>
              <a:rPr lang="en-US" sz="2000" dirty="0"/>
              <a:t>) and iron oxides (Fe</a:t>
            </a:r>
            <a:r>
              <a:rPr lang="en-US" sz="2000" baseline="-25000" dirty="0"/>
              <a:t>2</a:t>
            </a:r>
            <a:r>
              <a:rPr lang="en-US" sz="2000" dirty="0"/>
              <a:t>O</a:t>
            </a:r>
            <a:r>
              <a:rPr lang="en-US" sz="2000" baseline="-25000" dirty="0"/>
              <a:t>3</a:t>
            </a:r>
            <a:r>
              <a:rPr lang="en-US" sz="2000" dirty="0"/>
              <a:t>). For </a:t>
            </a:r>
            <a:r>
              <a:rPr lang="en-US" sz="2000" dirty="0" err="1"/>
              <a:t>eg</a:t>
            </a:r>
            <a:r>
              <a:rPr lang="en-US" sz="2000" dirty="0"/>
              <a:t>: clay , shale , ashes </a:t>
            </a:r>
            <a:r>
              <a:rPr lang="en-US" sz="2000" dirty="0" err="1"/>
              <a:t>etc</a:t>
            </a:r>
            <a:r>
              <a:rPr lang="en-US" sz="2000" dirty="0"/>
              <a:t> . [</a:t>
            </a:r>
            <a:r>
              <a:rPr lang="en-US" sz="2000" dirty="0" err="1"/>
              <a:t>Contibutes</a:t>
            </a:r>
            <a:r>
              <a:rPr lang="en-US" sz="2000" dirty="0"/>
              <a:t> &lt;</a:t>
            </a:r>
            <a:r>
              <a:rPr lang="en-US" sz="2000" b="1" dirty="0"/>
              <a:t>15%</a:t>
            </a:r>
            <a:r>
              <a:rPr lang="en-US" sz="2000" dirty="0"/>
              <a:t> of clinker]</a:t>
            </a:r>
            <a:br>
              <a:rPr lang="en-US" sz="2000" dirty="0"/>
            </a:br>
            <a:endParaRPr lang="en-US" sz="2000" dirty="0"/>
          </a:p>
          <a:p>
            <a:pPr marL="285750" indent="-285750">
              <a:buFont typeface="Arial" panose="020B0604020202020204" pitchFamily="34" charset="0"/>
              <a:buChar char="•"/>
            </a:pPr>
            <a:r>
              <a:rPr lang="en-US" sz="2000" b="1" dirty="0"/>
              <a:t>Gypsum(CaSO</a:t>
            </a:r>
            <a:r>
              <a:rPr lang="en-US" sz="2000" b="1" baseline="-25000" dirty="0"/>
              <a:t>4</a:t>
            </a:r>
            <a:r>
              <a:rPr lang="en-US" sz="2000" b="1" dirty="0"/>
              <a:t>.2H</a:t>
            </a:r>
            <a:r>
              <a:rPr lang="en-US" sz="2000" b="1" baseline="-25000" dirty="0"/>
              <a:t>2</a:t>
            </a:r>
            <a:r>
              <a:rPr lang="en-US" sz="2000" b="1" dirty="0"/>
              <a:t>O)</a:t>
            </a:r>
            <a:r>
              <a:rPr lang="en-US" sz="2000" dirty="0"/>
              <a:t> : It regulates the setting time of cement and is especially used for resulting receiving water content . It </a:t>
            </a:r>
            <a:r>
              <a:rPr lang="en-US" sz="2000" dirty="0" err="1"/>
              <a:t>doesnt</a:t>
            </a:r>
            <a:r>
              <a:rPr lang="en-US" sz="2000" dirty="0"/>
              <a:t> contribute in the clinker formation.</a:t>
            </a:r>
          </a:p>
        </p:txBody>
      </p:sp>
      <p:pic>
        <p:nvPicPr>
          <p:cNvPr id="4098" name="Picture 2">
            <a:extLst>
              <a:ext uri="{FF2B5EF4-FFF2-40B4-BE49-F238E27FC236}">
                <a16:creationId xmlns:a16="http://schemas.microsoft.com/office/drawing/2014/main" id="{33E49094-863F-4CD9-A927-2068CF815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791" y="1184863"/>
            <a:ext cx="4365307" cy="25626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755" y="123190"/>
            <a:ext cx="11740696" cy="700405"/>
          </a:xfrm>
        </p:spPr>
        <p:txBody>
          <a:bodyPr/>
          <a:lstStyle/>
          <a:p>
            <a:r>
              <a:rPr lang="en-US" sz="3200" b="1" dirty="0">
                <a:solidFill>
                  <a:schemeClr val="accent5">
                    <a:lumMod val="75000"/>
                  </a:schemeClr>
                </a:solidFill>
              </a:rPr>
              <a:t>Major limestone depositing area in Nepal</a:t>
            </a:r>
          </a:p>
        </p:txBody>
      </p:sp>
      <p:sp>
        <p:nvSpPr>
          <p:cNvPr id="4" name="Text Box 3"/>
          <p:cNvSpPr txBox="1"/>
          <p:nvPr/>
        </p:nvSpPr>
        <p:spPr>
          <a:xfrm>
            <a:off x="2657475" y="1289050"/>
            <a:ext cx="7303135" cy="3476625"/>
          </a:xfrm>
          <a:prstGeom prst="rect">
            <a:avLst/>
          </a:prstGeom>
          <a:noFill/>
        </p:spPr>
        <p:txBody>
          <a:bodyPr wrap="square" rtlCol="0">
            <a:spAutoFit/>
          </a:bodyPr>
          <a:lstStyle/>
          <a:p>
            <a:pPr marL="285750" indent="-285750">
              <a:buFont typeface="Wingdings" panose="05000000000000000000" charset="0"/>
              <a:buChar char="Ø"/>
            </a:pPr>
            <a:r>
              <a:rPr lang="en-US" sz="2000" dirty="0" err="1"/>
              <a:t>Okhre</a:t>
            </a:r>
            <a:r>
              <a:rPr lang="en-US" sz="2000" dirty="0"/>
              <a:t>(</a:t>
            </a:r>
            <a:r>
              <a:rPr lang="en-US" sz="2000" dirty="0" err="1"/>
              <a:t>Makwanpur</a:t>
            </a:r>
            <a:r>
              <a:rPr lang="en-US" sz="2000" dirty="0"/>
              <a:t>) </a:t>
            </a:r>
            <a:br>
              <a:rPr lang="en-US" sz="2000" dirty="0"/>
            </a:br>
            <a:r>
              <a:rPr lang="en-US" sz="2000" dirty="0"/>
              <a:t> </a:t>
            </a:r>
          </a:p>
          <a:p>
            <a:pPr marL="285750" indent="-285750">
              <a:buFont typeface="Wingdings" panose="05000000000000000000" charset="0"/>
              <a:buChar char="Ø"/>
            </a:pPr>
            <a:r>
              <a:rPr lang="en-US" sz="2000" dirty="0" err="1"/>
              <a:t>Chovar</a:t>
            </a:r>
            <a:r>
              <a:rPr lang="en-US" sz="2000" dirty="0"/>
              <a:t>(Kathmandu)</a:t>
            </a:r>
            <a:br>
              <a:rPr lang="en-US" sz="2000" dirty="0"/>
            </a:br>
            <a:endParaRPr lang="en-US" sz="2000" dirty="0"/>
          </a:p>
          <a:p>
            <a:pPr marL="285750" indent="-285750">
              <a:buFont typeface="Wingdings" panose="05000000000000000000" charset="0"/>
              <a:buChar char="Ø"/>
            </a:pPr>
            <a:r>
              <a:rPr lang="en-US" sz="2000" dirty="0"/>
              <a:t>  </a:t>
            </a:r>
            <a:r>
              <a:rPr lang="en-US" sz="2000" dirty="0" err="1"/>
              <a:t>Bhattedada</a:t>
            </a:r>
            <a:r>
              <a:rPr lang="en-US" sz="2000" dirty="0"/>
              <a:t>(Lalitpur) </a:t>
            </a:r>
            <a:br>
              <a:rPr lang="en-US" sz="2000" dirty="0"/>
            </a:br>
            <a:endParaRPr lang="en-US" sz="2000" dirty="0"/>
          </a:p>
          <a:p>
            <a:pPr marL="285750" indent="-285750">
              <a:buFont typeface="Wingdings" panose="05000000000000000000" charset="0"/>
              <a:buChar char="Ø"/>
            </a:pPr>
            <a:r>
              <a:rPr lang="en-US" sz="2000" dirty="0"/>
              <a:t> </a:t>
            </a:r>
            <a:r>
              <a:rPr lang="en-US" sz="2000" dirty="0" err="1"/>
              <a:t>Nirapani</a:t>
            </a:r>
            <a:r>
              <a:rPr lang="en-US" sz="2000" dirty="0"/>
              <a:t> and </a:t>
            </a:r>
            <a:r>
              <a:rPr lang="en-US" sz="2000" dirty="0" err="1"/>
              <a:t>SupaKhola</a:t>
            </a:r>
            <a:r>
              <a:rPr lang="en-US" sz="2000" dirty="0"/>
              <a:t> (</a:t>
            </a:r>
            <a:r>
              <a:rPr lang="en-US" sz="2000" dirty="0" err="1"/>
              <a:t>Arghakhanchi</a:t>
            </a:r>
            <a:r>
              <a:rPr lang="en-US" sz="2000" dirty="0"/>
              <a:t>) </a:t>
            </a:r>
            <a:br>
              <a:rPr lang="en-US" sz="2000" dirty="0"/>
            </a:br>
            <a:endParaRPr lang="en-US" sz="2000" dirty="0"/>
          </a:p>
          <a:p>
            <a:pPr marL="285750" indent="-285750">
              <a:buFont typeface="Wingdings" panose="05000000000000000000" charset="0"/>
              <a:buChar char="Ø"/>
            </a:pPr>
            <a:r>
              <a:rPr lang="en-US" sz="2000" dirty="0"/>
              <a:t> </a:t>
            </a:r>
            <a:r>
              <a:rPr lang="en-US" sz="2000" dirty="0" err="1"/>
              <a:t>Galtar</a:t>
            </a:r>
            <a:r>
              <a:rPr lang="en-US" sz="2000" dirty="0"/>
              <a:t>(</a:t>
            </a:r>
            <a:r>
              <a:rPr lang="en-US" sz="2000" dirty="0" err="1"/>
              <a:t>Udayapur</a:t>
            </a:r>
            <a:r>
              <a:rPr lang="en-US" sz="2000" dirty="0"/>
              <a:t>) </a:t>
            </a:r>
            <a:br>
              <a:rPr lang="en-US" sz="2000" dirty="0"/>
            </a:br>
            <a:endParaRPr lang="en-US" sz="2000" dirty="0"/>
          </a:p>
          <a:p>
            <a:pPr marL="285750" indent="-285750">
              <a:buFont typeface="Wingdings" panose="05000000000000000000" charset="0"/>
              <a:buChar char="Ø"/>
            </a:pPr>
            <a:r>
              <a:rPr lang="en-US" sz="2000" dirty="0" err="1"/>
              <a:t>Diyarigad</a:t>
            </a:r>
            <a:r>
              <a:rPr lang="en-US" sz="2000" dirty="0"/>
              <a:t>(</a:t>
            </a:r>
            <a:r>
              <a:rPr lang="en-US" sz="2000" dirty="0" err="1"/>
              <a:t>Baitadi</a:t>
            </a:r>
            <a:r>
              <a:rPr lang="en-US" sz="2000" dirty="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09" y="132715"/>
            <a:ext cx="11898993" cy="635635"/>
          </a:xfrm>
        </p:spPr>
        <p:txBody>
          <a:bodyPr/>
          <a:lstStyle/>
          <a:p>
            <a:r>
              <a:rPr lang="en-US" sz="3200" b="1" dirty="0">
                <a:solidFill>
                  <a:schemeClr val="accent5">
                    <a:lumMod val="75000"/>
                  </a:schemeClr>
                </a:solidFill>
              </a:rPr>
              <a:t>Main Steps in Cement Production</a:t>
            </a:r>
          </a:p>
        </p:txBody>
      </p:sp>
      <p:pic>
        <p:nvPicPr>
          <p:cNvPr id="5122" name="Picture 2">
            <a:extLst>
              <a:ext uri="{FF2B5EF4-FFF2-40B4-BE49-F238E27FC236}">
                <a16:creationId xmlns:a16="http://schemas.microsoft.com/office/drawing/2014/main" id="{761DAFC4-0E2A-4DB5-A178-3BA206DB048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2258" y="999309"/>
            <a:ext cx="11227483" cy="5725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06F11D-02F3-476C-89BF-5FE5472AFAB2}"/>
              </a:ext>
            </a:extLst>
          </p:cNvPr>
          <p:cNvSpPr>
            <a:spLocks noGrp="1"/>
          </p:cNvSpPr>
          <p:nvPr>
            <p:ph idx="1"/>
          </p:nvPr>
        </p:nvSpPr>
        <p:spPr>
          <a:xfrm>
            <a:off x="609600" y="300446"/>
            <a:ext cx="10972800" cy="5825717"/>
          </a:xfrm>
        </p:spPr>
        <p:txBody>
          <a:bodyPr/>
          <a:lstStyle/>
          <a:p>
            <a:pPr marL="457200" indent="-457200">
              <a:buAutoNum type="arabicPeriod"/>
            </a:pPr>
            <a:r>
              <a:rPr lang="en-US" sz="2000" b="1" dirty="0">
                <a:latin typeface="+mj-lt"/>
              </a:rPr>
              <a:t>Crushing</a:t>
            </a:r>
            <a:r>
              <a:rPr lang="en-US" sz="2000" dirty="0">
                <a:latin typeface="+mj-lt"/>
              </a:rPr>
              <a:t>: </a:t>
            </a:r>
            <a:r>
              <a:rPr lang="en-US" sz="2000" i="0" dirty="0">
                <a:effectLst/>
                <a:latin typeface="+mj-lt"/>
              </a:rPr>
              <a:t> The raw materials are extracted from quarries by blasting, drilling or ripening using heavy machinery. The raw materials are then crushed in a rotating cylindrical ball or tube mill. The ores are crushed first to 6 inches and reduced them by a secondary crusher or hammer mill to 3 inches.</a:t>
            </a:r>
          </a:p>
          <a:p>
            <a:pPr marL="457200" indent="-457200">
              <a:buAutoNum type="arabicPeriod"/>
            </a:pPr>
            <a:endParaRPr lang="en-US" sz="2000" i="0" dirty="0">
              <a:effectLst/>
              <a:latin typeface="+mj-lt"/>
            </a:endParaRPr>
          </a:p>
          <a:p>
            <a:pPr marL="457200" indent="-457200">
              <a:buAutoNum type="arabicPeriod"/>
            </a:pPr>
            <a:r>
              <a:rPr lang="en-US" sz="2000" b="1" dirty="0">
                <a:latin typeface="+mj-lt"/>
              </a:rPr>
              <a:t>Grinding</a:t>
            </a:r>
            <a:r>
              <a:rPr lang="en-US" sz="2000" dirty="0">
                <a:latin typeface="+mj-lt"/>
              </a:rPr>
              <a:t>: </a:t>
            </a:r>
            <a:r>
              <a:rPr lang="en-US" sz="2000" b="0" i="0" dirty="0">
                <a:effectLst/>
                <a:latin typeface="+mj-lt"/>
              </a:rPr>
              <a:t>: The crushed ore is mixed either in dry or wet ways is then grounded and then made homogeneous by means of compressed gas in a grinding mill. The resulting material is known as slurry having 35-40 % water.</a:t>
            </a:r>
          </a:p>
          <a:p>
            <a:pPr marL="457200" indent="-457200">
              <a:buAutoNum type="arabicPeriod"/>
            </a:pPr>
            <a:endParaRPr lang="en-US" sz="2000" b="0" i="0" dirty="0">
              <a:effectLst/>
              <a:latin typeface="+mj-lt"/>
            </a:endParaRPr>
          </a:p>
          <a:p>
            <a:pPr marL="457200" indent="-457200">
              <a:buAutoNum type="arabicPeriod"/>
            </a:pPr>
            <a:r>
              <a:rPr lang="en-US" sz="2000" b="1" dirty="0">
                <a:latin typeface="+mj-lt"/>
              </a:rPr>
              <a:t>Heating</a:t>
            </a:r>
            <a:r>
              <a:rPr lang="en-US" sz="2000" dirty="0">
                <a:latin typeface="+mj-lt"/>
              </a:rPr>
              <a:t>: </a:t>
            </a:r>
            <a:r>
              <a:rPr lang="en-US" sz="2000" b="0" i="0" dirty="0">
                <a:effectLst/>
                <a:latin typeface="+mj-lt"/>
              </a:rPr>
              <a:t> Slurry is then introduced in a rotary with the help of a conveyor. The rotary kiln consists of a large cylinder, 8 to 10 feet in diameter and a height of 300-500 feet. It is made of steel and lined with firebricks. In a rotary kiln, the slurry is passed through different zones of temperature. The whole process in the kiln is completed in 2 to 3 hours.</a:t>
            </a:r>
            <a:endParaRPr lang="en-US" sz="2000" dirty="0">
              <a:latin typeface="+mj-lt"/>
            </a:endParaRPr>
          </a:p>
        </p:txBody>
      </p:sp>
    </p:spTree>
    <p:extLst>
      <p:ext uri="{BB962C8B-B14F-4D97-AF65-F5344CB8AC3E}">
        <p14:creationId xmlns:p14="http://schemas.microsoft.com/office/powerpoint/2010/main" val="1819265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AAE8C-F5CD-4EBD-B4C0-3650BE9ABB60}"/>
              </a:ext>
            </a:extLst>
          </p:cNvPr>
          <p:cNvSpPr>
            <a:spLocks noGrp="1"/>
          </p:cNvSpPr>
          <p:nvPr>
            <p:ph type="title"/>
          </p:nvPr>
        </p:nvSpPr>
        <p:spPr>
          <a:xfrm>
            <a:off x="609600" y="-117566"/>
            <a:ext cx="10972800" cy="979715"/>
          </a:xfrm>
        </p:spPr>
        <p:txBody>
          <a:bodyPr/>
          <a:lstStyle/>
          <a:p>
            <a:r>
              <a:rPr lang="en-US" dirty="0">
                <a:solidFill>
                  <a:schemeClr val="accent5">
                    <a:lumMod val="50000"/>
                  </a:schemeClr>
                </a:solidFill>
              </a:rPr>
              <a:t>Different Temperature Zones</a:t>
            </a:r>
          </a:p>
        </p:txBody>
      </p:sp>
      <p:sp>
        <p:nvSpPr>
          <p:cNvPr id="3" name="Content Placeholder 2">
            <a:extLst>
              <a:ext uri="{FF2B5EF4-FFF2-40B4-BE49-F238E27FC236}">
                <a16:creationId xmlns:a16="http://schemas.microsoft.com/office/drawing/2014/main" id="{77CA00A2-CA6D-429F-879A-AB2671927FEB}"/>
              </a:ext>
            </a:extLst>
          </p:cNvPr>
          <p:cNvSpPr>
            <a:spLocks noGrp="1"/>
          </p:cNvSpPr>
          <p:nvPr>
            <p:ph idx="1"/>
          </p:nvPr>
        </p:nvSpPr>
        <p:spPr>
          <a:xfrm>
            <a:off x="609600" y="1123406"/>
            <a:ext cx="10972800" cy="5002757"/>
          </a:xfrm>
        </p:spPr>
        <p:txBody>
          <a:bodyPr/>
          <a:lstStyle/>
          <a:p>
            <a:pPr marL="400050" indent="-400050">
              <a:buAutoNum type="romanLcPeriod"/>
            </a:pPr>
            <a:r>
              <a:rPr lang="en-US" sz="1600" b="1" dirty="0">
                <a:solidFill>
                  <a:schemeClr val="tx2"/>
                </a:solidFill>
                <a:latin typeface="+mj-lt"/>
              </a:rPr>
              <a:t>Preheating zone</a:t>
            </a:r>
            <a:r>
              <a:rPr lang="en-US" sz="1600" dirty="0">
                <a:solidFill>
                  <a:schemeClr val="tx2"/>
                </a:solidFill>
                <a:latin typeface="+mj-lt"/>
              </a:rPr>
              <a:t>: </a:t>
            </a:r>
            <a:r>
              <a:rPr lang="en-US" sz="1600" b="0" i="0" dirty="0">
                <a:solidFill>
                  <a:schemeClr val="tx2"/>
                </a:solidFill>
                <a:effectLst/>
                <a:latin typeface="+mj-lt"/>
              </a:rPr>
              <a:t>In this zone, the temperature is kept to 500°C and usually the moisture is removed and clay is broken into silica, </a:t>
            </a:r>
            <a:r>
              <a:rPr lang="en-US" sz="1600" b="0" i="0" dirty="0" err="1">
                <a:solidFill>
                  <a:schemeClr val="tx2"/>
                </a:solidFill>
                <a:effectLst/>
                <a:latin typeface="+mj-lt"/>
              </a:rPr>
              <a:t>aluminium</a:t>
            </a:r>
            <a:r>
              <a:rPr lang="en-US" sz="1600" b="0" i="0" dirty="0">
                <a:solidFill>
                  <a:schemeClr val="tx2"/>
                </a:solidFill>
                <a:effectLst/>
                <a:latin typeface="+mj-lt"/>
              </a:rPr>
              <a:t> oxide and iron oxide.</a:t>
            </a:r>
          </a:p>
          <a:p>
            <a:pPr marL="400050" indent="-400050" rtl="0">
              <a:buAutoNum type="romanLcPeriod"/>
            </a:pPr>
            <a:r>
              <a:rPr lang="en-US" sz="1600" b="1" i="0" dirty="0">
                <a:solidFill>
                  <a:schemeClr val="tx2"/>
                </a:solidFill>
                <a:effectLst/>
                <a:latin typeface="+mj-lt"/>
              </a:rPr>
              <a:t>Decomposition zone: </a:t>
            </a:r>
            <a:r>
              <a:rPr lang="en-US" sz="1600" b="0" i="0" dirty="0">
                <a:solidFill>
                  <a:schemeClr val="tx2"/>
                </a:solidFill>
                <a:effectLst/>
                <a:latin typeface="+mj-lt"/>
              </a:rPr>
              <a:t>Temperature is raised to 800°C. In this zone, limestone decomposes into quick lime and CO</a:t>
            </a:r>
            <a:r>
              <a:rPr lang="en-US" sz="1600" b="0" i="0" baseline="-25000" dirty="0">
                <a:solidFill>
                  <a:schemeClr val="tx2"/>
                </a:solidFill>
                <a:effectLst/>
                <a:latin typeface="+mj-lt"/>
              </a:rPr>
              <a:t>2</a:t>
            </a:r>
            <a:r>
              <a:rPr lang="en-US" sz="1600" b="0" i="0" dirty="0">
                <a:solidFill>
                  <a:schemeClr val="tx2"/>
                </a:solidFill>
                <a:effectLst/>
                <a:latin typeface="+mj-lt"/>
              </a:rPr>
              <a:t>.</a:t>
            </a:r>
          </a:p>
          <a:p>
            <a:pPr marL="0" indent="0" algn="ctr" rtl="0">
              <a:buNone/>
            </a:pPr>
            <a:r>
              <a:rPr lang="en-US" sz="1600" dirty="0"/>
              <a:t>CaCO</a:t>
            </a:r>
            <a:r>
              <a:rPr lang="en-US" sz="1600" baseline="-25000" dirty="0"/>
              <a:t>3</a:t>
            </a:r>
            <a:r>
              <a:rPr lang="en-US" sz="1600" b="1" dirty="0"/>
              <a:t> -----&gt; </a:t>
            </a:r>
            <a:r>
              <a:rPr lang="en-US" sz="1600" dirty="0" err="1"/>
              <a:t>CaO</a:t>
            </a:r>
            <a:r>
              <a:rPr lang="en-US" sz="1600" dirty="0"/>
              <a:t> + CO</a:t>
            </a:r>
            <a:r>
              <a:rPr lang="en-US" sz="1600" baseline="-25000" dirty="0"/>
              <a:t>2</a:t>
            </a:r>
            <a:br>
              <a:rPr lang="en-US" sz="1600" dirty="0"/>
            </a:br>
            <a:endParaRPr lang="en-US" sz="1600" b="0" i="0" dirty="0">
              <a:solidFill>
                <a:schemeClr val="tx2"/>
              </a:solidFill>
              <a:effectLst/>
              <a:latin typeface="+mj-lt"/>
            </a:endParaRPr>
          </a:p>
          <a:p>
            <a:pPr marL="0" indent="0" rtl="0">
              <a:buNone/>
            </a:pPr>
            <a:r>
              <a:rPr lang="en-US" sz="1600" b="1" dirty="0">
                <a:solidFill>
                  <a:schemeClr val="tx2"/>
                </a:solidFill>
                <a:latin typeface="+mj-lt"/>
              </a:rPr>
              <a:t>iii.   Burning zone: </a:t>
            </a:r>
            <a:r>
              <a:rPr lang="en-US" sz="1600" b="0" i="0" dirty="0">
                <a:solidFill>
                  <a:schemeClr val="tx2"/>
                </a:solidFill>
                <a:effectLst/>
                <a:latin typeface="+mj-lt"/>
              </a:rPr>
              <a:t>n this zone, the temperature is maintained up to 1500°C and the oxide formed in the above zone combines and forms respective silicate, aluminate and ferrite.</a:t>
            </a:r>
          </a:p>
          <a:p>
            <a:pPr marL="0" indent="0" rtl="0">
              <a:buNone/>
            </a:pPr>
            <a:endParaRPr lang="en-US" sz="1600" b="1" i="0" dirty="0">
              <a:solidFill>
                <a:schemeClr val="tx2"/>
              </a:solidFill>
              <a:effectLst/>
              <a:latin typeface="+mj-lt"/>
            </a:endParaRPr>
          </a:p>
        </p:txBody>
      </p:sp>
      <p:pic>
        <p:nvPicPr>
          <p:cNvPr id="5" name="Picture 4">
            <a:extLst>
              <a:ext uri="{FF2B5EF4-FFF2-40B4-BE49-F238E27FC236}">
                <a16:creationId xmlns:a16="http://schemas.microsoft.com/office/drawing/2014/main" id="{B688B1A5-05AC-4975-A2D0-12BEAFFF73AF}"/>
              </a:ext>
            </a:extLst>
          </p:cNvPr>
          <p:cNvPicPr>
            <a:picLocks noChangeAspect="1"/>
          </p:cNvPicPr>
          <p:nvPr/>
        </p:nvPicPr>
        <p:blipFill>
          <a:blip r:embed="rId2"/>
          <a:stretch>
            <a:fillRect/>
          </a:stretch>
        </p:blipFill>
        <p:spPr>
          <a:xfrm>
            <a:off x="2855183" y="3429000"/>
            <a:ext cx="6223503" cy="2491632"/>
          </a:xfrm>
          <a:prstGeom prst="rect">
            <a:avLst/>
          </a:prstGeom>
        </p:spPr>
      </p:pic>
      <p:sp>
        <p:nvSpPr>
          <p:cNvPr id="9" name="TextBox 8">
            <a:extLst>
              <a:ext uri="{FF2B5EF4-FFF2-40B4-BE49-F238E27FC236}">
                <a16:creationId xmlns:a16="http://schemas.microsoft.com/office/drawing/2014/main" id="{3F57F6B6-2167-4B46-9023-DD829016266B}"/>
              </a:ext>
            </a:extLst>
          </p:cNvPr>
          <p:cNvSpPr txBox="1"/>
          <p:nvPr/>
        </p:nvSpPr>
        <p:spPr>
          <a:xfrm>
            <a:off x="657497" y="6202754"/>
            <a:ext cx="10877005" cy="369332"/>
          </a:xfrm>
          <a:prstGeom prst="rect">
            <a:avLst/>
          </a:prstGeom>
          <a:noFill/>
        </p:spPr>
        <p:txBody>
          <a:bodyPr wrap="square">
            <a:spAutoFit/>
          </a:bodyPr>
          <a:lstStyle/>
          <a:p>
            <a:r>
              <a:rPr lang="en-US" b="1" i="0" dirty="0">
                <a:solidFill>
                  <a:schemeClr val="tx2"/>
                </a:solidFill>
                <a:effectLst/>
                <a:latin typeface="+mj-lt"/>
              </a:rPr>
              <a:t>iv. Cooling zone: </a:t>
            </a:r>
            <a:r>
              <a:rPr lang="en-US" b="0" i="0" dirty="0">
                <a:solidFill>
                  <a:schemeClr val="tx2"/>
                </a:solidFill>
                <a:effectLst/>
                <a:latin typeface="+mj-lt"/>
              </a:rPr>
              <a:t>This is the last stage where the whole assembly is cooled up to 150-200°C.</a:t>
            </a:r>
            <a:endParaRPr lang="en-US" dirty="0">
              <a:solidFill>
                <a:schemeClr val="tx2"/>
              </a:solidFill>
              <a:latin typeface="+mj-lt"/>
            </a:endParaRPr>
          </a:p>
        </p:txBody>
      </p:sp>
    </p:spTree>
    <p:extLst>
      <p:ext uri="{BB962C8B-B14F-4D97-AF65-F5344CB8AC3E}">
        <p14:creationId xmlns:p14="http://schemas.microsoft.com/office/powerpoint/2010/main" val="2106439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29120A-1CDF-48A5-9F27-EA0E2F80AE90}"/>
              </a:ext>
            </a:extLst>
          </p:cNvPr>
          <p:cNvSpPr>
            <a:spLocks noGrp="1"/>
          </p:cNvSpPr>
          <p:nvPr>
            <p:ph idx="1"/>
          </p:nvPr>
        </p:nvSpPr>
        <p:spPr>
          <a:xfrm>
            <a:off x="609600" y="143691"/>
            <a:ext cx="10972800" cy="5982472"/>
          </a:xfrm>
        </p:spPr>
        <p:txBody>
          <a:bodyPr/>
          <a:lstStyle/>
          <a:p>
            <a:pPr marL="0" indent="0">
              <a:buNone/>
            </a:pPr>
            <a:r>
              <a:rPr lang="en-US" sz="2400" b="1" dirty="0">
                <a:solidFill>
                  <a:schemeClr val="tx2"/>
                </a:solidFill>
                <a:latin typeface="+mj-lt"/>
              </a:rPr>
              <a:t>4. Final Grinding: </a:t>
            </a:r>
            <a:r>
              <a:rPr lang="en-US" sz="2400" b="0" i="0" dirty="0">
                <a:solidFill>
                  <a:schemeClr val="tx2"/>
                </a:solidFill>
                <a:effectLst/>
                <a:latin typeface="+mj-lt"/>
              </a:rPr>
              <a:t>The product which is obtained from the rotary kiln is called clinker. It is usually in the form of a greenish-black or grey-</a:t>
            </a:r>
            <a:r>
              <a:rPr lang="en-US" sz="2400" b="0" i="0" dirty="0" err="1">
                <a:solidFill>
                  <a:schemeClr val="tx2"/>
                </a:solidFill>
                <a:effectLst/>
                <a:latin typeface="+mj-lt"/>
              </a:rPr>
              <a:t>coloured</a:t>
            </a:r>
            <a:r>
              <a:rPr lang="en-US" sz="2400" b="0" i="0" dirty="0">
                <a:solidFill>
                  <a:schemeClr val="tx2"/>
                </a:solidFill>
                <a:effectLst/>
                <a:latin typeface="+mj-lt"/>
              </a:rPr>
              <a:t> solid. It is then air-cooled and the required amount of gypsum is mixed with the clinker to slow down the setting of cement so that cement is adequately hardened.</a:t>
            </a:r>
          </a:p>
          <a:p>
            <a:pPr marL="0" indent="0">
              <a:buNone/>
            </a:pPr>
            <a:endParaRPr lang="en-US" sz="2400" b="1" dirty="0">
              <a:solidFill>
                <a:schemeClr val="tx2"/>
              </a:solidFill>
              <a:latin typeface="+mj-lt"/>
            </a:endParaRPr>
          </a:p>
          <a:p>
            <a:pPr marL="0" indent="0">
              <a:buNone/>
            </a:pPr>
            <a:r>
              <a:rPr lang="en-US" sz="2400" b="1" dirty="0">
                <a:solidFill>
                  <a:schemeClr val="tx2"/>
                </a:solidFill>
                <a:latin typeface="+mj-lt"/>
              </a:rPr>
              <a:t>4. Packaging and Shipping: </a:t>
            </a:r>
            <a:r>
              <a:rPr lang="en-US" sz="2400" b="0" i="0" dirty="0">
                <a:solidFill>
                  <a:schemeClr val="tx2"/>
                </a:solidFill>
                <a:effectLst/>
                <a:latin typeface="+mj-lt"/>
              </a:rPr>
              <a:t>Cement is conveyed from grinding mills to silos (large storage tanks) where it is packed in 20-40 kg bags. Most of the product is shipped in bulk quantities by trucks, trains or ships, and only a small amount is packed for customers who need small quantities.</a:t>
            </a:r>
            <a:endParaRPr lang="en-US" sz="2400" dirty="0">
              <a:solidFill>
                <a:schemeClr val="tx2"/>
              </a:solidFill>
              <a:latin typeface="+mj-lt"/>
            </a:endParaRPr>
          </a:p>
        </p:txBody>
      </p:sp>
    </p:spTree>
    <p:extLst>
      <p:ext uri="{BB962C8B-B14F-4D97-AF65-F5344CB8AC3E}">
        <p14:creationId xmlns:p14="http://schemas.microsoft.com/office/powerpoint/2010/main" val="2175710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2777" y="211183"/>
            <a:ext cx="9771017" cy="467995"/>
          </a:xfrm>
        </p:spPr>
        <p:txBody>
          <a:bodyPr/>
          <a:lstStyle/>
          <a:p>
            <a:r>
              <a:rPr lang="en-US" sz="3200" b="1" dirty="0"/>
              <a:t>Types of Cement (OPC and PPC)</a:t>
            </a:r>
          </a:p>
        </p:txBody>
      </p:sp>
      <p:pic>
        <p:nvPicPr>
          <p:cNvPr id="6" name="Picture 5">
            <a:extLst>
              <a:ext uri="{FF2B5EF4-FFF2-40B4-BE49-F238E27FC236}">
                <a16:creationId xmlns:a16="http://schemas.microsoft.com/office/drawing/2014/main" id="{2F13CFFB-DBED-453C-812A-B1CCC64735D6}"/>
              </a:ext>
            </a:extLst>
          </p:cNvPr>
          <p:cNvPicPr>
            <a:picLocks noChangeAspect="1"/>
          </p:cNvPicPr>
          <p:nvPr/>
        </p:nvPicPr>
        <p:blipFill>
          <a:blip r:embed="rId2"/>
          <a:stretch>
            <a:fillRect/>
          </a:stretch>
        </p:blipFill>
        <p:spPr>
          <a:xfrm>
            <a:off x="1149532" y="836023"/>
            <a:ext cx="9509759" cy="59072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870" y="674370"/>
            <a:ext cx="10972800" cy="4525963"/>
          </a:xfrm>
        </p:spPr>
        <p:txBody>
          <a:bodyPr/>
          <a:lstStyle/>
          <a:p>
            <a:r>
              <a:rPr lang="en-US" altLang="en-US" sz="2000" b="1" dirty="0">
                <a:sym typeface="+mn-ea"/>
              </a:rPr>
              <a:t>OPC 33 Grade:</a:t>
            </a:r>
            <a:endParaRPr lang="en-US" altLang="en-US" sz="2000" b="1" dirty="0"/>
          </a:p>
          <a:p>
            <a:pPr marL="457200" lvl="1" indent="457200">
              <a:buNone/>
            </a:pPr>
            <a:r>
              <a:rPr lang="en-US" altLang="en-US" sz="2000" dirty="0">
                <a:sym typeface="+mn-ea"/>
              </a:rPr>
              <a:t>This grade develops a minimum compressive strength of 33 MPa (33 MN/m²) after 28 days. It gains strength slowly and is mainly used for simple construction works such as plastering, masonry, flooring, and non-reinforced structures.</a:t>
            </a:r>
            <a:endParaRPr lang="en-US" altLang="en-US" sz="2000" dirty="0"/>
          </a:p>
          <a:p>
            <a:endParaRPr lang="en-US" altLang="en-US" sz="2000" dirty="0"/>
          </a:p>
          <a:p>
            <a:r>
              <a:rPr lang="en-US" altLang="en-US" sz="2000" b="1" dirty="0">
                <a:sym typeface="+mn-ea"/>
              </a:rPr>
              <a:t>OPC 43 Grade:</a:t>
            </a:r>
            <a:endParaRPr lang="en-US" altLang="en-US" sz="2000" b="1" dirty="0"/>
          </a:p>
          <a:p>
            <a:pPr marL="457200" lvl="1" indent="457200">
              <a:buNone/>
            </a:pPr>
            <a:r>
              <a:rPr lang="en-US" altLang="en-US" sz="2000" dirty="0">
                <a:sym typeface="+mn-ea"/>
              </a:rPr>
              <a:t>OPC 43 grade attains a minimum compressive strength of 43 MPa after 28 days. It provides moderate early strength and is commonly used in general reinforced concrete works, including residential buildings, beams, slabs, and columns.</a:t>
            </a:r>
            <a:endParaRPr lang="en-US" altLang="en-US" sz="2000" dirty="0"/>
          </a:p>
          <a:p>
            <a:endParaRPr lang="en-US" altLang="en-US" sz="2000" dirty="0"/>
          </a:p>
          <a:p>
            <a:r>
              <a:rPr lang="en-US" altLang="en-US" sz="2000" b="1" dirty="0">
                <a:sym typeface="+mn-ea"/>
              </a:rPr>
              <a:t>OPC 53 Grade:</a:t>
            </a:r>
            <a:endParaRPr lang="en-US" altLang="en-US" sz="2000" b="1" dirty="0"/>
          </a:p>
          <a:p>
            <a:pPr marL="457200" lvl="1" indent="457200">
              <a:buNone/>
            </a:pPr>
            <a:r>
              <a:rPr lang="en-US" altLang="en-US" sz="2000" dirty="0">
                <a:sym typeface="+mn-ea"/>
              </a:rPr>
              <a:t>OPC 53 grade achieves a minimum compressive strength of 53 MPa after 28 days. It gains high early strength, making it suitable for heavy construction works, high-rise buildings, bridges, and pre-stressed concrete structures. However, it requires careful curing to avoid cracks due to higher heat of hydration.</a:t>
            </a:r>
            <a:endParaRPr lang="en-US" altLang="en-US" sz="2000" dirty="0"/>
          </a:p>
          <a:p>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770" y="170815"/>
            <a:ext cx="11020425" cy="6687185"/>
          </a:xfrm>
        </p:spPr>
        <p:txBody>
          <a:bodyPr/>
          <a:lstStyle/>
          <a:p>
            <a:pPr marL="0" indent="0">
              <a:buNone/>
            </a:pPr>
            <a:endParaRPr lang="en-US" altLang="en-US" sz="2000"/>
          </a:p>
          <a:p>
            <a:r>
              <a:rPr lang="en-US" altLang="en-US" sz="2000"/>
              <a:t>White Cement:</a:t>
            </a:r>
          </a:p>
          <a:p>
            <a:pPr marL="457200" lvl="1" indent="457200">
              <a:buNone/>
            </a:pPr>
            <a:r>
              <a:rPr lang="en-US" altLang="en-US" sz="2000"/>
              <a:t>White cement is produced from raw materials free from iron oxide, giving it a white color. It has properties similar to OPC and is mainly used for decorative works, architectural finishes, tiles, and ornamental structures.</a:t>
            </a:r>
          </a:p>
          <a:p>
            <a:endParaRPr lang="en-US" altLang="en-US" sz="2000"/>
          </a:p>
          <a:p>
            <a:r>
              <a:rPr lang="en-US" altLang="en-US" sz="2000"/>
              <a:t>High Alumina Cement:</a:t>
            </a:r>
          </a:p>
          <a:p>
            <a:pPr marL="457200" lvl="1" indent="457200">
              <a:buNone/>
            </a:pPr>
            <a:r>
              <a:rPr lang="en-US" altLang="en-US" sz="2000"/>
              <a:t>High alumina cement is manufactured from bauxite and limestone and contains a high percentage of alumina. It develops very high early strength, resists high temperatures, and is used in refractory works and chemical plants.</a:t>
            </a:r>
          </a:p>
          <a:p>
            <a:endParaRPr lang="en-US" altLang="en-US" sz="2000"/>
          </a:p>
          <a:p>
            <a:r>
              <a:rPr lang="en-US" altLang="en-US" sz="2000"/>
              <a:t>Hydraulic Cement:</a:t>
            </a:r>
          </a:p>
          <a:p>
            <a:pPr marL="457200" lvl="1" indent="457200">
              <a:buNone/>
            </a:pPr>
            <a:r>
              <a:rPr lang="en-US" altLang="en-US" sz="2000"/>
              <a:t>Hydraulic cement is the type of cement that sets and hardens in the presence of water. It gains strength even under water and is widely used in dams, bridges, and underwater constructions.</a:t>
            </a:r>
          </a:p>
          <a:p>
            <a:endParaRPr lang="en-US" altLang="en-US" sz="2000"/>
          </a:p>
          <a:p>
            <a:r>
              <a:rPr lang="en-US" altLang="en-US" sz="2000"/>
              <a:t>Non-Hydraulic Cement:</a:t>
            </a:r>
          </a:p>
          <a:p>
            <a:pPr marL="457200" lvl="1" indent="457200">
              <a:buNone/>
            </a:pPr>
            <a:r>
              <a:rPr lang="en-US" altLang="en-US" sz="2000"/>
              <a:t>Non-hydraulic cement hardens only in the presence of air and does not set under water. It is mainly used in dry conditions and for plastering and decorative works.</a:t>
            </a:r>
          </a:p>
          <a:p>
            <a:pPr marL="0" indent="0">
              <a:buNone/>
            </a:pPr>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25" y="120650"/>
            <a:ext cx="6122035" cy="689610"/>
          </a:xfrm>
        </p:spPr>
        <p:txBody>
          <a:bodyPr/>
          <a:lstStyle/>
          <a:p>
            <a:r>
              <a:rPr lang="en-US" sz="2800"/>
              <a:t>Portland Cement Process </a:t>
            </a:r>
          </a:p>
        </p:txBody>
      </p:sp>
      <p:sp>
        <p:nvSpPr>
          <p:cNvPr id="4" name="Text Box 3"/>
          <p:cNvSpPr txBox="1"/>
          <p:nvPr/>
        </p:nvSpPr>
        <p:spPr>
          <a:xfrm>
            <a:off x="892175" y="810260"/>
            <a:ext cx="10243820" cy="5077460"/>
          </a:xfrm>
          <a:prstGeom prst="rect">
            <a:avLst/>
          </a:prstGeom>
          <a:noFill/>
        </p:spPr>
        <p:txBody>
          <a:bodyPr wrap="square" rtlCol="0">
            <a:spAutoFit/>
          </a:bodyPr>
          <a:lstStyle/>
          <a:p>
            <a:r>
              <a:rPr lang="en-US" dirty="0"/>
              <a:t>Manufacturing of </a:t>
            </a:r>
            <a:r>
              <a:rPr lang="en-US" dirty="0" err="1"/>
              <a:t>portland</a:t>
            </a:r>
            <a:r>
              <a:rPr lang="en-US" dirty="0"/>
              <a:t> Cement involves the following steps :</a:t>
            </a:r>
          </a:p>
          <a:p>
            <a:endParaRPr lang="en-US" dirty="0"/>
          </a:p>
          <a:p>
            <a:endParaRPr lang="en-US" dirty="0"/>
          </a:p>
          <a:p>
            <a:pPr marL="342900" indent="-342900">
              <a:buFont typeface="+mj-lt"/>
              <a:buAutoNum type="romanLcPeriod"/>
            </a:pPr>
            <a:r>
              <a:rPr lang="en-US" b="1" dirty="0"/>
              <a:t>Quarrying of raw materials</a:t>
            </a:r>
            <a:r>
              <a:rPr lang="en-US" dirty="0"/>
              <a:t> : Raw materials are extracted from quarries by blasting or by ripping using heavy machinery.</a:t>
            </a:r>
            <a:br>
              <a:rPr lang="en-US" dirty="0"/>
            </a:br>
            <a:endParaRPr lang="en-US" dirty="0"/>
          </a:p>
          <a:p>
            <a:pPr marL="342900" indent="-342900">
              <a:buFont typeface="+mj-lt"/>
              <a:buAutoNum type="romanLcPeriod"/>
            </a:pPr>
            <a:r>
              <a:rPr lang="en-US" b="1" dirty="0"/>
              <a:t>Crushing </a:t>
            </a:r>
            <a:r>
              <a:rPr lang="en-US" dirty="0"/>
              <a:t>: Limestones produced are then crushed with the help of crushers installed at the mine site and crushed . </a:t>
            </a:r>
            <a:br>
              <a:rPr lang="en-US" dirty="0"/>
            </a:br>
            <a:endParaRPr lang="en-US" dirty="0"/>
          </a:p>
          <a:p>
            <a:pPr marL="342900" indent="-342900">
              <a:buFont typeface="+mj-lt"/>
              <a:buAutoNum type="romanLcPeriod"/>
            </a:pPr>
            <a:r>
              <a:rPr lang="en-US" b="1" dirty="0" err="1"/>
              <a:t>Grinding,blending</a:t>
            </a:r>
            <a:r>
              <a:rPr lang="en-US" b="1" dirty="0"/>
              <a:t> and homogenization: </a:t>
            </a:r>
            <a:r>
              <a:rPr lang="en-US" dirty="0"/>
              <a:t>Crushed quarried limestone is grounded as necessary to provide a fine material which is then blended with corrective ingredients like clay/shale , silica and iron ore in required ratio and mix homogenously to produce clinker . </a:t>
            </a:r>
            <a:br>
              <a:rPr lang="en-US" dirty="0"/>
            </a:br>
            <a:endParaRPr lang="en-US" dirty="0"/>
          </a:p>
          <a:p>
            <a:pPr marL="342900" indent="-342900">
              <a:buFont typeface="+mj-lt"/>
              <a:buAutoNum type="romanLcPeriod"/>
            </a:pPr>
            <a:r>
              <a:rPr lang="en-US" b="1" dirty="0"/>
              <a:t>Pyro processing :</a:t>
            </a:r>
            <a:r>
              <a:rPr lang="en-US" dirty="0"/>
              <a:t> The blended material is then heated at high temperature up to 1300 - 1450</a:t>
            </a:r>
            <a:r>
              <a:rPr lang="en-US" baseline="30000" dirty="0"/>
              <a:t>o</a:t>
            </a:r>
            <a:r>
              <a:rPr lang="en-US" dirty="0"/>
              <a:t>C in a rotatory kiln to produce a clinker</a:t>
            </a:r>
            <a:br>
              <a:rPr lang="en-US" dirty="0"/>
            </a:br>
            <a:endParaRPr lang="en-US" dirty="0"/>
          </a:p>
          <a:p>
            <a:pPr marL="342900" indent="-342900">
              <a:buFont typeface="+mj-lt"/>
              <a:buAutoNum type="romanLcPeriod"/>
            </a:pPr>
            <a:r>
              <a:rPr lang="en-US" altLang="en-US" b="1" dirty="0"/>
              <a:t>Cooling, storing, and final grinding:</a:t>
            </a:r>
            <a:r>
              <a:rPr lang="en-US" altLang="en-US" dirty="0"/>
              <a:t> Clinker is cooled, stored, mixed with additives (e.g., gypsum, pozzolanic materials), and finally ground to produce fine cement ready for use.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3935DDD6-E960-4FCE-8223-11C3F36288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28" y="1593667"/>
            <a:ext cx="11625943" cy="31612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49225"/>
            <a:ext cx="11926389" cy="833120"/>
          </a:xfrm>
        </p:spPr>
        <p:txBody>
          <a:bodyPr/>
          <a:lstStyle/>
          <a:p>
            <a:r>
              <a:rPr lang="en-US" sz="3600" b="1" dirty="0">
                <a:solidFill>
                  <a:schemeClr val="bg1">
                    <a:lumMod val="65000"/>
                  </a:schemeClr>
                </a:solidFill>
              </a:rPr>
              <a:t>Cement Industry in Nepal</a:t>
            </a:r>
          </a:p>
        </p:txBody>
      </p:sp>
      <p:sp>
        <p:nvSpPr>
          <p:cNvPr id="3" name="Content Placeholder 2"/>
          <p:cNvSpPr>
            <a:spLocks noGrp="1"/>
          </p:cNvSpPr>
          <p:nvPr>
            <p:ph idx="1"/>
          </p:nvPr>
        </p:nvSpPr>
        <p:spPr>
          <a:xfrm>
            <a:off x="609600" y="1165860"/>
            <a:ext cx="11049635" cy="5230495"/>
          </a:xfrm>
        </p:spPr>
        <p:txBody>
          <a:bodyPr/>
          <a:lstStyle/>
          <a:p>
            <a:pPr marL="0" indent="0">
              <a:buNone/>
            </a:pPr>
            <a:r>
              <a:rPr lang="en-US" sz="1800" b="0" i="0" dirty="0">
                <a:solidFill>
                  <a:schemeClr val="tx2"/>
                </a:solidFill>
                <a:effectLst/>
                <a:latin typeface="+mj-lt"/>
              </a:rPr>
              <a:t>Cement was used first in Nepal during the 1950s and its supply was </a:t>
            </a:r>
            <a:r>
              <a:rPr lang="en-US" sz="1800" b="0" i="0" dirty="0" err="1">
                <a:solidFill>
                  <a:schemeClr val="tx2"/>
                </a:solidFill>
                <a:effectLst/>
                <a:latin typeface="+mj-lt"/>
              </a:rPr>
              <a:t>diversed</a:t>
            </a:r>
            <a:r>
              <a:rPr lang="en-US" sz="1800" b="0" i="0" dirty="0">
                <a:solidFill>
                  <a:schemeClr val="tx2"/>
                </a:solidFill>
                <a:effectLst/>
                <a:latin typeface="+mj-lt"/>
              </a:rPr>
              <a:t> in 1965. </a:t>
            </a:r>
            <a:r>
              <a:rPr lang="en-US" sz="1800" b="0" i="0" dirty="0" err="1">
                <a:solidFill>
                  <a:schemeClr val="tx2"/>
                </a:solidFill>
                <a:effectLst/>
                <a:latin typeface="+mj-lt"/>
              </a:rPr>
              <a:t>Himal</a:t>
            </a:r>
            <a:r>
              <a:rPr lang="en-US" sz="1800" b="0" i="0" dirty="0">
                <a:solidFill>
                  <a:schemeClr val="tx2"/>
                </a:solidFill>
                <a:effectLst/>
                <a:latin typeface="+mj-lt"/>
              </a:rPr>
              <a:t> cement company was the first cement plant established in 1975 had a production rate of 160 tons a day but it was later shut down in 2002. After this, the </a:t>
            </a:r>
            <a:r>
              <a:rPr lang="en-US" sz="1800" b="0" i="0" dirty="0" err="1">
                <a:solidFill>
                  <a:schemeClr val="tx2"/>
                </a:solidFill>
                <a:effectLst/>
                <a:latin typeface="+mj-lt"/>
              </a:rPr>
              <a:t>Hetauda</a:t>
            </a:r>
            <a:r>
              <a:rPr lang="en-US" sz="1800" b="0" i="0" dirty="0">
                <a:solidFill>
                  <a:schemeClr val="tx2"/>
                </a:solidFill>
                <a:effectLst/>
                <a:latin typeface="+mj-lt"/>
              </a:rPr>
              <a:t> cement industry and </a:t>
            </a:r>
            <a:r>
              <a:rPr lang="en-US" sz="1800" b="0" i="0" dirty="0" err="1">
                <a:solidFill>
                  <a:schemeClr val="tx2"/>
                </a:solidFill>
                <a:effectLst/>
                <a:latin typeface="+mj-lt"/>
              </a:rPr>
              <a:t>Udaypur</a:t>
            </a:r>
            <a:r>
              <a:rPr lang="en-US" sz="1800" b="0" i="0" dirty="0">
                <a:solidFill>
                  <a:schemeClr val="tx2"/>
                </a:solidFill>
                <a:effectLst/>
                <a:latin typeface="+mj-lt"/>
              </a:rPr>
              <a:t> cement industry limited were established. Nepal’s domestic cement production has been growing steadily over the past few years as the demand for cement continues to rise. Nepali cement producers are producing OPC, PPC of which OPC is widely used by consumers. </a:t>
            </a:r>
            <a:r>
              <a:rPr lang="en-US" sz="1800" b="0" i="0" dirty="0" err="1">
                <a:solidFill>
                  <a:schemeClr val="tx2"/>
                </a:solidFill>
                <a:effectLst/>
                <a:latin typeface="+mj-lt"/>
              </a:rPr>
              <a:t>Hongshi-Shivam</a:t>
            </a:r>
            <a:r>
              <a:rPr lang="en-US" sz="1800" b="0" i="0" dirty="0">
                <a:solidFill>
                  <a:schemeClr val="tx2"/>
                </a:solidFill>
                <a:effectLst/>
                <a:latin typeface="+mj-lt"/>
              </a:rPr>
              <a:t> Cement Private Limited, a Nepal-China joint venture company has started cement production in 2018. It is the largest cement factory in Nepal with a daily production capacity of 6000 tons. According to the department of industries, 27 mini, medium and large scale cement industries and more than 17 mini and mini clinker based cement industries have been registered in Nepal. Some cement industries established in the public and private sectors are mentioned below:</a:t>
            </a:r>
          </a:p>
          <a:p>
            <a:pPr marL="0" indent="0">
              <a:buNone/>
            </a:pPr>
            <a:endParaRPr lang="en-US" dirty="0">
              <a:solidFill>
                <a:schemeClr val="tx2"/>
              </a:solidFill>
              <a:latin typeface="+mj-lt"/>
            </a:endParaRPr>
          </a:p>
        </p:txBody>
      </p:sp>
      <p:pic>
        <p:nvPicPr>
          <p:cNvPr id="5" name="Picture 4">
            <a:extLst>
              <a:ext uri="{FF2B5EF4-FFF2-40B4-BE49-F238E27FC236}">
                <a16:creationId xmlns:a16="http://schemas.microsoft.com/office/drawing/2014/main" id="{CF0BCA26-F30A-4A4B-84D0-73DBE680D2A3}"/>
              </a:ext>
            </a:extLst>
          </p:cNvPr>
          <p:cNvPicPr>
            <a:picLocks noChangeAspect="1"/>
          </p:cNvPicPr>
          <p:nvPr/>
        </p:nvPicPr>
        <p:blipFill>
          <a:blip r:embed="rId2"/>
          <a:stretch>
            <a:fillRect/>
          </a:stretch>
        </p:blipFill>
        <p:spPr>
          <a:xfrm>
            <a:off x="274035" y="4240289"/>
            <a:ext cx="3973130" cy="2156066"/>
          </a:xfrm>
          <a:prstGeom prst="rect">
            <a:avLst/>
          </a:prstGeom>
        </p:spPr>
      </p:pic>
      <p:pic>
        <p:nvPicPr>
          <p:cNvPr id="7" name="Picture 6">
            <a:extLst>
              <a:ext uri="{FF2B5EF4-FFF2-40B4-BE49-F238E27FC236}">
                <a16:creationId xmlns:a16="http://schemas.microsoft.com/office/drawing/2014/main" id="{2218554C-14F0-44C2-B55F-DDF4D5FDE9B8}"/>
              </a:ext>
            </a:extLst>
          </p:cNvPr>
          <p:cNvPicPr>
            <a:picLocks noChangeAspect="1"/>
          </p:cNvPicPr>
          <p:nvPr/>
        </p:nvPicPr>
        <p:blipFill>
          <a:blip r:embed="rId3"/>
          <a:stretch>
            <a:fillRect/>
          </a:stretch>
        </p:blipFill>
        <p:spPr>
          <a:xfrm>
            <a:off x="4412643" y="4240289"/>
            <a:ext cx="3366713" cy="2339581"/>
          </a:xfrm>
          <a:prstGeom prst="rect">
            <a:avLst/>
          </a:prstGeom>
        </p:spPr>
      </p:pic>
      <p:pic>
        <p:nvPicPr>
          <p:cNvPr id="9" name="Picture 8">
            <a:extLst>
              <a:ext uri="{FF2B5EF4-FFF2-40B4-BE49-F238E27FC236}">
                <a16:creationId xmlns:a16="http://schemas.microsoft.com/office/drawing/2014/main" id="{7D6DAF51-6238-4804-A3E8-3695A8DFF992}"/>
              </a:ext>
            </a:extLst>
          </p:cNvPr>
          <p:cNvPicPr>
            <a:picLocks noChangeAspect="1"/>
          </p:cNvPicPr>
          <p:nvPr/>
        </p:nvPicPr>
        <p:blipFill>
          <a:blip r:embed="rId4"/>
          <a:stretch>
            <a:fillRect/>
          </a:stretch>
        </p:blipFill>
        <p:spPr>
          <a:xfrm>
            <a:off x="7647941" y="4082189"/>
            <a:ext cx="4544059" cy="182222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870" y="934720"/>
            <a:ext cx="10972800" cy="4525963"/>
          </a:xfrm>
        </p:spPr>
        <p:txBody>
          <a:bodyPr/>
          <a:lstStyle/>
          <a:p>
            <a:pPr>
              <a:buFont typeface="Arial" panose="020B0604020202020204" pitchFamily="34" charset="0"/>
              <a:buChar char="•"/>
            </a:pPr>
            <a:r>
              <a:rPr lang="en-US" sz="2000"/>
              <a:t>Poor adequate infrastructures such as roads , housing construction and multiple layer of taxation charged by local , provincial and federal government.</a:t>
            </a:r>
            <a:br>
              <a:rPr lang="en-US" sz="2000"/>
            </a:br>
            <a:endParaRPr lang="en-US" sz="2000"/>
          </a:p>
          <a:p>
            <a:pPr>
              <a:buFont typeface="Arial" panose="020B0604020202020204" pitchFamily="34" charset="0"/>
              <a:buChar char="•"/>
            </a:pPr>
            <a:r>
              <a:rPr lang="en-US" sz="2000"/>
              <a:t>Frequent power crisis (lack of electricity &amp; fuel sources)</a:t>
            </a:r>
            <a:br>
              <a:rPr lang="en-US" sz="2000"/>
            </a:br>
            <a:endParaRPr lang="en-US" sz="2000"/>
          </a:p>
          <a:p>
            <a:pPr>
              <a:buFont typeface="Arial" panose="020B0604020202020204" pitchFamily="34" charset="0"/>
              <a:buChar char="•"/>
            </a:pPr>
            <a:r>
              <a:rPr lang="en-US" sz="2000"/>
              <a:t>Unable to provide proper quality of cement and its’ export in the market supply. </a:t>
            </a:r>
            <a:br>
              <a:rPr lang="en-US" sz="2000"/>
            </a:br>
            <a:endParaRPr lang="en-US" sz="2000"/>
          </a:p>
          <a:p>
            <a:pPr>
              <a:buFont typeface="Arial" panose="020B0604020202020204" pitchFamily="34" charset="0"/>
              <a:buChar char="•"/>
            </a:pPr>
            <a:r>
              <a:rPr lang="en-US" sz="2000"/>
              <a:t>Lack of raw materials and supplementary cementitious materials and frequent change in policies. </a:t>
            </a:r>
            <a:br>
              <a:rPr lang="en-US" sz="2000"/>
            </a:br>
            <a:endParaRPr lang="en-US" sz="2000"/>
          </a:p>
          <a:p>
            <a:pPr>
              <a:buFont typeface="Arial" panose="020B0604020202020204" pitchFamily="34" charset="0"/>
              <a:buChar char="•"/>
            </a:pPr>
            <a:r>
              <a:rPr lang="en-US" sz="2000"/>
              <a:t>Lack of modern technology and an equally skilled workforce in the country.</a:t>
            </a:r>
            <a:br>
              <a:rPr lang="en-US" sz="2000"/>
            </a:br>
            <a:endParaRPr lang="en-US" sz="2000"/>
          </a:p>
          <a:p>
            <a:pPr>
              <a:buFont typeface="Arial" panose="020B0604020202020204" pitchFamily="34" charset="0"/>
              <a:buChar char="•"/>
            </a:pPr>
            <a:r>
              <a:rPr lang="en-US" sz="2000"/>
              <a:t>Lack of maintainance to account for environmental pollution .</a:t>
            </a:r>
          </a:p>
        </p:txBody>
      </p:sp>
      <p:sp>
        <p:nvSpPr>
          <p:cNvPr id="4" name="Text Box 3"/>
          <p:cNvSpPr txBox="1"/>
          <p:nvPr/>
        </p:nvSpPr>
        <p:spPr>
          <a:xfrm>
            <a:off x="119380" y="95885"/>
            <a:ext cx="7659370" cy="460375"/>
          </a:xfrm>
          <a:prstGeom prst="rect">
            <a:avLst/>
          </a:prstGeom>
          <a:noFill/>
        </p:spPr>
        <p:txBody>
          <a:bodyPr wrap="square" rtlCol="0">
            <a:spAutoFit/>
          </a:bodyPr>
          <a:lstStyle/>
          <a:p>
            <a:r>
              <a:rPr lang="en-US" sz="2400"/>
              <a:t>Challanges during cement production in Nepal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045" y="139700"/>
            <a:ext cx="7425055" cy="728980"/>
          </a:xfrm>
        </p:spPr>
        <p:txBody>
          <a:bodyPr/>
          <a:lstStyle/>
          <a:p>
            <a:r>
              <a:rPr lang="en-US" sz="3200"/>
              <a:t>Strategies to cope with the challanges</a:t>
            </a:r>
          </a:p>
        </p:txBody>
      </p:sp>
      <p:sp>
        <p:nvSpPr>
          <p:cNvPr id="3" name="Content Placeholder 2"/>
          <p:cNvSpPr>
            <a:spLocks noGrp="1"/>
          </p:cNvSpPr>
          <p:nvPr>
            <p:ph idx="1"/>
          </p:nvPr>
        </p:nvSpPr>
        <p:spPr>
          <a:xfrm>
            <a:off x="609600" y="1600200"/>
            <a:ext cx="10925175" cy="4035425"/>
          </a:xfrm>
        </p:spPr>
        <p:txBody>
          <a:bodyPr/>
          <a:lstStyle/>
          <a:p>
            <a:r>
              <a:rPr lang="en-US" sz="2000"/>
              <a:t>Government should invest a lot in infrastructure development in roads , housing construction &amp; expansion of corporate production facilities.</a:t>
            </a:r>
            <a:br>
              <a:rPr lang="en-US" sz="2000"/>
            </a:br>
            <a:endParaRPr lang="en-US" sz="2000"/>
          </a:p>
          <a:p>
            <a:r>
              <a:rPr lang="en-US" sz="2000"/>
              <a:t>Manufacturing blended cements (PPC) by diluting portland cement clinker with other constituents.</a:t>
            </a:r>
            <a:br>
              <a:rPr lang="en-US" sz="2000"/>
            </a:br>
            <a:endParaRPr lang="en-US" sz="2000"/>
          </a:p>
          <a:p>
            <a:r>
              <a:rPr lang="en-US" sz="2000"/>
              <a:t>Replacing fossil fuels to cost effective renewable energy sources like solar and hydroelectricity.</a:t>
            </a:r>
            <a:br>
              <a:rPr lang="en-US" sz="2000"/>
            </a:br>
            <a:endParaRPr lang="en-US" sz="2000"/>
          </a:p>
          <a:p>
            <a:r>
              <a:rPr lang="en-US" sz="2000"/>
              <a:t>By the application of alternative raw materials that minimizes CO</a:t>
            </a:r>
            <a:r>
              <a:rPr lang="en-US" sz="2000" baseline="-25000"/>
              <a:t>2</a:t>
            </a:r>
            <a:r>
              <a:rPr lang="en-US" sz="2000"/>
              <a:t> emission and reduce energy consumption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1690" y="346075"/>
            <a:ext cx="10972800" cy="4525963"/>
          </a:xfrm>
        </p:spPr>
        <p:txBody>
          <a:bodyPr/>
          <a:lstStyle/>
          <a:p>
            <a:pPr marL="0" indent="0">
              <a:buNone/>
            </a:pPr>
            <a:r>
              <a:rPr lang="en-US" sz="2000"/>
              <a:t>Before starting a new cement plant , the following aspects should be considered : </a:t>
            </a:r>
            <a:br>
              <a:rPr lang="en-US" sz="2000"/>
            </a:br>
            <a:br>
              <a:rPr lang="en-US" sz="2000"/>
            </a:br>
            <a:br>
              <a:rPr lang="en-US" sz="2000"/>
            </a:br>
            <a:endParaRPr lang="en-US" sz="2000"/>
          </a:p>
          <a:p>
            <a:pPr algn="l"/>
            <a:r>
              <a:rPr lang="en-US" sz="2000"/>
              <a:t>Cement Manufacturing process </a:t>
            </a:r>
            <a:br>
              <a:rPr lang="en-US" sz="2000"/>
            </a:br>
            <a:endParaRPr lang="en-US" sz="2000"/>
          </a:p>
          <a:p>
            <a:pPr algn="l"/>
            <a:r>
              <a:rPr lang="en-US" sz="2000"/>
              <a:t>Cement plant equipment</a:t>
            </a:r>
            <a:br>
              <a:rPr lang="en-US" sz="2000"/>
            </a:br>
            <a:endParaRPr lang="en-US" sz="2000"/>
          </a:p>
          <a:p>
            <a:pPr algn="l"/>
            <a:r>
              <a:rPr lang="en-US" sz="2000"/>
              <a:t>Cost-benefits of cement plant</a:t>
            </a: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1744</Words>
  <Application>Microsoft Office PowerPoint</Application>
  <PresentationFormat>Widescreen</PresentationFormat>
  <Paragraphs>95</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Wingdings</vt:lpstr>
      <vt:lpstr>Default Design</vt:lpstr>
      <vt:lpstr>Table of Contents</vt:lpstr>
      <vt:lpstr>PowerPoint Presentation</vt:lpstr>
      <vt:lpstr>PowerPoint Presentation</vt:lpstr>
      <vt:lpstr>PowerPoint Presentation</vt:lpstr>
      <vt:lpstr>Raw materials for cement production</vt:lpstr>
      <vt:lpstr>Major limestone depositing area in Nepal</vt:lpstr>
      <vt:lpstr>Main Steps in Cement Production</vt:lpstr>
      <vt:lpstr>PowerPoint Presentation</vt:lpstr>
      <vt:lpstr>Different Temperature Zones</vt:lpstr>
      <vt:lpstr>PowerPoint Presentation</vt:lpstr>
      <vt:lpstr>Types of Cement (OPC and PPC)</vt:lpstr>
      <vt:lpstr>PowerPoint Presentation</vt:lpstr>
      <vt:lpstr>PowerPoint Presentation</vt:lpstr>
      <vt:lpstr>Portland Cement Process </vt:lpstr>
      <vt:lpstr>PowerPoint Presentation</vt:lpstr>
      <vt:lpstr>Cement Industry in Nepal</vt:lpstr>
      <vt:lpstr>PowerPoint Presentation</vt:lpstr>
      <vt:lpstr>Strategies to cope with the challanges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Administrator</dc:creator>
  <cp:lastModifiedBy>Sunil Gaire</cp:lastModifiedBy>
  <cp:revision>18</cp:revision>
  <dcterms:created xsi:type="dcterms:W3CDTF">2025-07-23T00:59:00Z</dcterms:created>
  <dcterms:modified xsi:type="dcterms:W3CDTF">2026-02-25T17:28:57Z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2894258E96B941A383DD6571C82A3AA4_11</vt:lpwstr>
  </property>
  <property fmtid="{D5CDD505-2E9C-101B-9397-08002B2CF9AE}" pid="3" name="KSOProductBuildVer">
    <vt:lpwstr>1033-12.2.0.23196</vt:lpwstr>
  </property>
</Properties>
</file>